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jpeg" ContentType="image/jpeg"/>
  <Override PartName="/ppt/media/image8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40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5E09A7-E1EC-48E0-9BFF-B89C1FC2639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64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64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20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20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E35752-5A5E-4A9F-B2CD-3867480EEA7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98B440-8822-4D60-B749-487AAE5FFE7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08182D-EC12-46CB-B05E-0C998E99B32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6C913E-1359-434F-8DA8-AE83D1BFD66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120" cy="48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2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C83F5E-9912-4956-8D7C-36EB17CE7B4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89F6DE-EA7F-46C5-BBF8-8145D28E326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87A3F4-EF6F-4F01-92A6-51F4942F9A1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000" cy="58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160" cy="581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C4C18E-F5DD-4E2E-B062-E1AC2044C8C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6CA9B5-FFB7-48F2-A98C-7EF5118A146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08738D-E597-4DF2-A7EC-DD316667CE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ОПРЕДЕЛЕНИЕ СКОРОСТИ РАСПРОСТРАНЕНИЯ ВОЛНЫ НА ПОВЕРХНОСТИ ВОДЫ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9301320" y="5663520"/>
            <a:ext cx="288972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Лысенко Ярослав, Калашников Пётр, Ванин Клим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Цель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Исследование зависимости скорости распространения возмущений в воде от глубины канала.</a:t>
            </a: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07080" y="1836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Задачи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07080" y="1071720"/>
            <a:ext cx="11883600" cy="519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Собрать и протестировать схему датчика открытия дверцы.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Написать и протестировать скрипт для калибровки.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Написать и протестировать скрипт для проведения измерения.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Провести серию измерений для калибровки.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Провести серию измерений скорости волны для разных уровней воды.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Получить и визуализировать на графике калибровочную зависимость уровня воды в кювете от показаний АЦП.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Построить графики зависимостей уровня воды в кювете от времени для каждого из трех экспериментов и определить по графикам скорости распространения волны.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Построить график теоретической зависимости скорости волны от уровня воды и нанести на него полученные в эксперименте скорости.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4"/>
          <p:cNvSpPr/>
          <p:nvPr/>
        </p:nvSpPr>
        <p:spPr>
          <a:xfrm>
            <a:off x="186840" y="1080000"/>
            <a:ext cx="11512440" cy="55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Скорость распространения малых возмущений 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— скорость распространения точки с постоянным физическим параметром 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(в данной задачи – глубины жидкости).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Для теоретических расчётов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 будем использовать следующие приближения: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Жидкость несжимаемая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Глубина жидкости в каждом сечении канала много меньше длины канала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Вертикальная скорость жидкости много меньше горизонтальной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Изменение параметров течения жидкости (глубины и скорости) вдоль канала заметно меняются только на расстояниях, много больших глубины жидкости.   </a:t>
            </a: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itle 2"/>
          <p:cNvSpPr/>
          <p:nvPr/>
        </p:nvSpPr>
        <p:spPr>
          <a:xfrm>
            <a:off x="307440" y="18720"/>
            <a:ext cx="10514520" cy="13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Теория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121680" y="1800000"/>
            <a:ext cx="11937600" cy="323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1189080" y="180000"/>
            <a:ext cx="8880480" cy="652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154520" y="180000"/>
            <a:ext cx="9104760" cy="647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4320"/>
            <a:ext cx="10514520" cy="13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>
            <a:off x="48240" y="360000"/>
            <a:ext cx="1201104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360" y="315720"/>
            <a:ext cx="1219104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4320"/>
            <a:ext cx="10514520" cy="13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1620000" y="280800"/>
            <a:ext cx="8265600" cy="619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360" y="495720"/>
            <a:ext cx="1219104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360" y="360000"/>
            <a:ext cx="1219104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0" y="315720"/>
            <a:ext cx="1219104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360" y="360000"/>
            <a:ext cx="1219104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0" y="315720"/>
            <a:ext cx="1219104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48240" y="360000"/>
            <a:ext cx="1214316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48240" y="540000"/>
            <a:ext cx="1214316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360" y="495720"/>
            <a:ext cx="1219104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4320"/>
            <a:ext cx="10514520" cy="13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48240" y="495720"/>
            <a:ext cx="1214316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4320"/>
            <a:ext cx="10514520" cy="13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48240" y="495720"/>
            <a:ext cx="1214316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4320"/>
            <a:ext cx="10514520" cy="13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360" y="540000"/>
            <a:ext cx="12191040" cy="598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4320"/>
            <a:ext cx="10514520" cy="132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360" y="360000"/>
            <a:ext cx="9178920" cy="45050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08" name=""/>
          <p:cNvGraphicFramePr/>
          <p:nvPr/>
        </p:nvGraphicFramePr>
        <p:xfrm>
          <a:off x="117000" y="4899600"/>
          <a:ext cx="10752120" cy="1760400"/>
        </p:xfrm>
        <a:graphic>
          <a:graphicData uri="http://schemas.openxmlformats.org/drawingml/2006/table">
            <a:tbl>
              <a:tblPr/>
              <a:tblGrid>
                <a:gridCol w="894960"/>
                <a:gridCol w="895320"/>
                <a:gridCol w="896760"/>
                <a:gridCol w="896040"/>
                <a:gridCol w="895320"/>
                <a:gridCol w="895320"/>
                <a:gridCol w="896040"/>
                <a:gridCol w="895320"/>
                <a:gridCol w="896760"/>
                <a:gridCol w="896040"/>
                <a:gridCol w="894240"/>
                <a:gridCol w="900360"/>
              </a:tblGrid>
              <a:tr h="689400"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N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3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7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8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10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5320"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h, </a:t>
                      </a: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см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2.0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2.3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3.0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4.1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4.8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5.0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6.0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6.9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7.8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9.0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9.9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5680"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v,</a:t>
                      </a: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м/с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0.46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0.48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0.56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0.68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0.72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0.78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0.72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0.84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0.84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1.02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0.78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Application>LibreOffice/25.2.7.2$Windows_X86_64 LibreOffice_project/5cbfd1ab6520636bb5f7b99185aa69bd7456825d</Application>
  <AppVersion>15.0000</AppVersion>
  <Words>210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2025-11-24T11:45:24Z</dcterms:created>
  <dc:creator>Данилов Олег</dc:creator>
  <dc:description/>
  <dc:language>ru-RU</dc:language>
  <cp:lastModifiedBy/>
  <dcterms:modified xsi:type="dcterms:W3CDTF">2025-12-09T17:10:08Z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