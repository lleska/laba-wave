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jpeg" ContentType="image/jpeg"/>
  <Override PartName="/ppt/media/image8.png" ContentType="image/png"/>
  <Override PartName="/ppt/media/image3.jpeg" ContentType="image/jpeg"/>
  <Override PartName="/ppt/media/image5.png" ContentType="image/png"/>
  <Override PartName="/ppt/media/image4.png" ContentType="image/png"/>
  <Override PartName="/ppt/media/image6.png" ContentType="image/png"/>
  <Override PartName="/ppt/media/image7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8.png" ContentType="image/png"/>
  <Override PartName="/ppt/media/image19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5F344ED-F199-4188-A223-537A1B8ADD36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6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9829854-9EF6-4D07-A287-7276D4A7BFF7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560" cy="159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480" cy="4872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560" cy="381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ru-RU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A909267-FD0A-48F3-B8DA-C9E4A25DB00A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ru-RU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80914DC-9D31-42CC-8A2F-A6E6545CE60F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AC359E0-9EB2-4C03-9334-2E9D180570AB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360" cy="581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520" cy="581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820D62A-6369-43D9-A0A4-2714D8F1E3C9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1BB3D74-8D11-4D28-BCCE-C1A602EC653C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4880" cy="285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ru-RU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4880" cy="14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4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36B6C7F-68D2-4D68-8C42-A65C614FBD48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076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FD64D65-7464-40E4-A549-7EEDFE2BDD23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000" cy="82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000" cy="368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560" cy="82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560" cy="368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ru-RU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7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8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E1C7BA9-C4F0-489D-A5EE-CFFBACD4E0B5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C184E01-73B4-47D4-A2CC-0651577BAB44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7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7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7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7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280" cy="238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 lnSpcReduction="9999"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ОПРЕДЕЛЕНИЕ СКОРОСТИ РАСПРОСТРАНЕНИЯ ВОЛНЫ НА ПОВЕРХНОСТИ ВОДЫ</a:t>
            </a:r>
            <a:endParaRPr b="0" lang="ru-RU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subTitle"/>
          </p:nvPr>
        </p:nvSpPr>
        <p:spPr>
          <a:xfrm>
            <a:off x="9301320" y="5663520"/>
            <a:ext cx="289008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r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Лысенко Ярослав, Калашников Пётр, Ванин Клим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Цель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n-US" sz="4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Исследование зависимости скорости распространения возмущений в воде от глубины канала.</a:t>
            </a:r>
            <a:endParaRPr b="0" lang="ru-RU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ru-RU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ru-RU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307080" y="1836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Задачи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307080" y="1071720"/>
            <a:ext cx="11883960" cy="5193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 fontScale="92500" lnSpcReduction="9999"/>
          </a:bodyPr>
          <a:p>
            <a:pPr marL="457200" indent="-4572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Calibri Light"/>
              <a:buAutoNum type="arabicPeriod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Собрать и протестировать схему датчика открытия дверцы.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Calibri Light"/>
              <a:buAutoNum type="arabicPeriod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Написать и протестировать скрипт для калибровки.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Calibri Light"/>
              <a:buAutoNum type="arabicPeriod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Написать и протестировать скрипт для проведения измерения.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Calibri Light"/>
              <a:buAutoNum type="arabicPeriod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Провести серию измерений для калибровки.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Calibri Light"/>
              <a:buAutoNum type="arabicPeriod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Провести серию измерений скорости волны для разных уровней воды.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Calibri Light"/>
              <a:buAutoNum type="arabicPeriod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Получить и визуализировать на графике калибровочную зависимость уровня воды в кювете от показаний АЦП.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Calibri Light"/>
              <a:buAutoNum type="arabicPeriod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Построить графики зависимостей уровня воды в кювете от времени для каждого из трех экспериментов и определить по графикам скорости распространения волны.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Calibri Light"/>
              <a:buAutoNum type="arabicPeriod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Построить график теоретической зависимости скорости волны от уровня воды и нанести на него полученные в эксперименте скорости.</a:t>
            </a: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ru-RU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4"/>
          <p:cNvSpPr/>
          <p:nvPr/>
        </p:nvSpPr>
        <p:spPr>
          <a:xfrm>
            <a:off x="186840" y="1080000"/>
            <a:ext cx="11512800" cy="557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Скорость распространения малых возмущений </a:t>
            </a:r>
            <a:r>
              <a:rPr b="0" lang="en-US" sz="3000" strike="noStrike" u="none">
                <a:solidFill>
                  <a:schemeClr val="dk1"/>
                </a:solidFill>
                <a:effectLst/>
                <a:uFillTx/>
                <a:latin typeface="Calibri"/>
                <a:ea typeface="Times New Roman"/>
              </a:rPr>
              <a:t>— скорость распространения точки с постоянным физическим параметром </a:t>
            </a: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3000" strike="noStrike" u="none">
                <a:solidFill>
                  <a:schemeClr val="dk1"/>
                </a:solidFill>
                <a:effectLst/>
                <a:uFillTx/>
                <a:latin typeface="Calibri"/>
                <a:ea typeface="Times New Roman"/>
              </a:rPr>
              <a:t>(в данной задачи – глубины жидкости).</a:t>
            </a: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3000" strike="noStrike" u="none">
                <a:solidFill>
                  <a:schemeClr val="dk1"/>
                </a:solidFill>
                <a:effectLst/>
                <a:uFillTx/>
                <a:latin typeface="Calibri"/>
                <a:ea typeface="Times New Roman"/>
              </a:rPr>
              <a:t>Для теоретических расчётов</a:t>
            </a:r>
            <a:r>
              <a:rPr b="0" lang="en-US" sz="3000" strike="noStrike" u="none">
                <a:solidFill>
                  <a:schemeClr val="dk1"/>
                </a:solidFill>
                <a:effectLst/>
                <a:uFillTx/>
                <a:latin typeface="Calibri"/>
                <a:ea typeface="Times New Roman"/>
              </a:rPr>
              <a:t> будем использовать следующие приближения:</a:t>
            </a: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trike="noStrike" u="none">
                <a:solidFill>
                  <a:schemeClr val="dk1"/>
                </a:solidFill>
                <a:effectLst/>
                <a:uFillTx/>
                <a:latin typeface="Calibri"/>
                <a:ea typeface="Times New Roman"/>
              </a:rPr>
              <a:t>Жидкость несжимаемая</a:t>
            </a: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trike="noStrike" u="none">
                <a:solidFill>
                  <a:schemeClr val="dk1"/>
                </a:solidFill>
                <a:effectLst/>
                <a:uFillTx/>
                <a:latin typeface="Calibri"/>
                <a:ea typeface="Times New Roman"/>
              </a:rPr>
              <a:t>Глубина жидкости в каждом сечении канала много меньше длины канала</a:t>
            </a: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trike="noStrike" u="none">
                <a:solidFill>
                  <a:schemeClr val="dk1"/>
                </a:solidFill>
                <a:effectLst/>
                <a:uFillTx/>
                <a:latin typeface="Calibri"/>
                <a:ea typeface="Times New Roman"/>
              </a:rPr>
              <a:t>Вертикальная скорость жидкости много меньше горизонтальной</a:t>
            </a: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000" strike="noStrike" u="none">
                <a:solidFill>
                  <a:schemeClr val="dk1"/>
                </a:solidFill>
                <a:effectLst/>
                <a:uFillTx/>
                <a:latin typeface="Calibri"/>
                <a:ea typeface="Times New Roman"/>
              </a:rPr>
              <a:t>Изменение параметров течения жидкости (глубины и скорости) вдоль канала заметно меняются только на расстояниях, много больших глубины жидкости.   </a:t>
            </a:r>
            <a:endParaRPr b="0" lang="ru-RU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itle 2"/>
          <p:cNvSpPr/>
          <p:nvPr/>
        </p:nvSpPr>
        <p:spPr>
          <a:xfrm>
            <a:off x="307440" y="18720"/>
            <a:ext cx="10514880" cy="13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0000"/>
              </a:lnSpc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Теория</a:t>
            </a:r>
            <a:endParaRPr b="0" lang="ru-RU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" descr=""/>
          <p:cNvPicPr/>
          <p:nvPr/>
        </p:nvPicPr>
        <p:blipFill>
          <a:blip r:embed="rId1"/>
          <a:stretch/>
        </p:blipFill>
        <p:spPr>
          <a:xfrm>
            <a:off x="121680" y="1800000"/>
            <a:ext cx="11937960" cy="3239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" name="" descr=""/>
          <p:cNvPicPr/>
          <p:nvPr/>
        </p:nvPicPr>
        <p:blipFill>
          <a:blip r:embed="rId1"/>
          <a:stretch/>
        </p:blipFill>
        <p:spPr>
          <a:xfrm>
            <a:off x="1189080" y="180000"/>
            <a:ext cx="8880840" cy="6528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" name="" descr=""/>
          <p:cNvPicPr/>
          <p:nvPr/>
        </p:nvPicPr>
        <p:blipFill>
          <a:blip r:embed="rId1"/>
          <a:stretch/>
        </p:blipFill>
        <p:spPr>
          <a:xfrm>
            <a:off x="1154520" y="180000"/>
            <a:ext cx="9105120" cy="6479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838080" y="364680"/>
            <a:ext cx="10514880" cy="132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2" name="" descr=""/>
          <p:cNvPicPr/>
          <p:nvPr/>
        </p:nvPicPr>
        <p:blipFill>
          <a:blip r:embed="rId1"/>
          <a:stretch/>
        </p:blipFill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3" name="" descr=""/>
          <p:cNvPicPr/>
          <p:nvPr/>
        </p:nvPicPr>
        <p:blipFill>
          <a:blip r:embed="rId2"/>
          <a:stretch/>
        </p:blipFill>
        <p:spPr>
          <a:xfrm>
            <a:off x="48240" y="360000"/>
            <a:ext cx="12011400" cy="5983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" descr=""/>
          <p:cNvPicPr/>
          <p:nvPr/>
        </p:nvPicPr>
        <p:blipFill>
          <a:blip r:embed="rId1"/>
          <a:stretch/>
        </p:blipFill>
        <p:spPr>
          <a:xfrm>
            <a:off x="360" y="315720"/>
            <a:ext cx="12191400" cy="5983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838080" y="364680"/>
            <a:ext cx="10514880" cy="132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" name="" descr=""/>
          <p:cNvPicPr/>
          <p:nvPr/>
        </p:nvPicPr>
        <p:blipFill>
          <a:blip r:embed="rId1"/>
          <a:stretch/>
        </p:blipFill>
        <p:spPr>
          <a:xfrm>
            <a:off x="1440360" y="180000"/>
            <a:ext cx="8819640" cy="6614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" descr=""/>
          <p:cNvPicPr/>
          <p:nvPr/>
        </p:nvPicPr>
        <p:blipFill>
          <a:blip r:embed="rId1"/>
          <a:stretch/>
        </p:blipFill>
        <p:spPr>
          <a:xfrm>
            <a:off x="360" y="495720"/>
            <a:ext cx="12191400" cy="5983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" name="" descr=""/>
          <p:cNvPicPr/>
          <p:nvPr/>
        </p:nvPicPr>
        <p:blipFill>
          <a:blip r:embed="rId1"/>
          <a:stretch/>
        </p:blipFill>
        <p:spPr>
          <a:xfrm>
            <a:off x="360" y="360000"/>
            <a:ext cx="12191400" cy="5983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4" name="" descr=""/>
          <p:cNvPicPr/>
          <p:nvPr/>
        </p:nvPicPr>
        <p:blipFill>
          <a:blip r:embed="rId1"/>
          <a:stretch/>
        </p:blipFill>
        <p:spPr>
          <a:xfrm>
            <a:off x="0" y="315720"/>
            <a:ext cx="12191400" cy="5983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" name="" descr=""/>
          <p:cNvPicPr/>
          <p:nvPr/>
        </p:nvPicPr>
        <p:blipFill>
          <a:blip r:embed="rId1"/>
          <a:stretch/>
        </p:blipFill>
        <p:spPr>
          <a:xfrm>
            <a:off x="360" y="360000"/>
            <a:ext cx="12191400" cy="5983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spcBef>
                <a:spcPts val="1417"/>
              </a:spcBef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0" name="" descr=""/>
          <p:cNvPicPr/>
          <p:nvPr/>
        </p:nvPicPr>
        <p:blipFill>
          <a:blip r:embed="rId1"/>
          <a:stretch/>
        </p:blipFill>
        <p:spPr>
          <a:xfrm>
            <a:off x="0" y="315720"/>
            <a:ext cx="12191400" cy="5983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" descr=""/>
          <p:cNvPicPr/>
          <p:nvPr/>
        </p:nvPicPr>
        <p:blipFill>
          <a:blip r:embed="rId1"/>
          <a:stretch/>
        </p:blipFill>
        <p:spPr>
          <a:xfrm>
            <a:off x="48240" y="360000"/>
            <a:ext cx="12143520" cy="5983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4" name="" descr=""/>
          <p:cNvPicPr/>
          <p:nvPr/>
        </p:nvPicPr>
        <p:blipFill>
          <a:blip r:embed="rId1"/>
          <a:stretch/>
        </p:blipFill>
        <p:spPr>
          <a:xfrm>
            <a:off x="48240" y="540000"/>
            <a:ext cx="12143520" cy="5983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1324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6" name="" descr=""/>
          <p:cNvPicPr/>
          <p:nvPr/>
        </p:nvPicPr>
        <p:blipFill>
          <a:blip r:embed="rId1"/>
          <a:stretch/>
        </p:blipFill>
        <p:spPr>
          <a:xfrm>
            <a:off x="360" y="495720"/>
            <a:ext cx="12191400" cy="5983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838080" y="364680"/>
            <a:ext cx="10514880" cy="132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8" name="" descr=""/>
          <p:cNvPicPr/>
          <p:nvPr/>
        </p:nvPicPr>
        <p:blipFill>
          <a:blip r:embed="rId1"/>
          <a:stretch/>
        </p:blipFill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9" name="" descr=""/>
          <p:cNvPicPr/>
          <p:nvPr/>
        </p:nvPicPr>
        <p:blipFill>
          <a:blip r:embed="rId2"/>
          <a:stretch/>
        </p:blipFill>
        <p:spPr>
          <a:xfrm>
            <a:off x="48240" y="495720"/>
            <a:ext cx="12143520" cy="5983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838080" y="364680"/>
            <a:ext cx="10514880" cy="132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1" name="" descr=""/>
          <p:cNvPicPr/>
          <p:nvPr/>
        </p:nvPicPr>
        <p:blipFill>
          <a:blip r:embed="rId1"/>
          <a:stretch/>
        </p:blipFill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2" name="" descr=""/>
          <p:cNvPicPr/>
          <p:nvPr/>
        </p:nvPicPr>
        <p:blipFill>
          <a:blip r:embed="rId2"/>
          <a:stretch/>
        </p:blipFill>
        <p:spPr>
          <a:xfrm>
            <a:off x="48240" y="495720"/>
            <a:ext cx="12143520" cy="5983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838080" y="364680"/>
            <a:ext cx="10514880" cy="132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" name="" descr=""/>
          <p:cNvPicPr/>
          <p:nvPr/>
        </p:nvPicPr>
        <p:blipFill>
          <a:blip r:embed="rId1"/>
          <a:stretch/>
        </p:blipFill>
        <p:spPr>
          <a:xfrm>
            <a:off x="838080" y="1825560"/>
            <a:ext cx="10514880" cy="4350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5" name="" descr=""/>
          <p:cNvPicPr/>
          <p:nvPr/>
        </p:nvPicPr>
        <p:blipFill>
          <a:blip r:embed="rId2"/>
          <a:stretch/>
        </p:blipFill>
        <p:spPr>
          <a:xfrm>
            <a:off x="360" y="540000"/>
            <a:ext cx="12191400" cy="5983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838080" y="364680"/>
            <a:ext cx="10514880" cy="132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" name="" descr=""/>
          <p:cNvPicPr/>
          <p:nvPr/>
        </p:nvPicPr>
        <p:blipFill>
          <a:blip r:embed="rId1"/>
          <a:stretch/>
        </p:blipFill>
        <p:spPr>
          <a:xfrm>
            <a:off x="360" y="360000"/>
            <a:ext cx="9179280" cy="450540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108" name=""/>
          <p:cNvGraphicFramePr/>
          <p:nvPr/>
        </p:nvGraphicFramePr>
        <p:xfrm>
          <a:off x="117000" y="4899600"/>
          <a:ext cx="10752120" cy="1760400"/>
        </p:xfrm>
        <a:graphic>
          <a:graphicData uri="http://schemas.openxmlformats.org/drawingml/2006/table">
            <a:tbl>
              <a:tblPr/>
              <a:tblGrid>
                <a:gridCol w="894960"/>
                <a:gridCol w="895320"/>
                <a:gridCol w="896760"/>
                <a:gridCol w="896040"/>
                <a:gridCol w="895320"/>
                <a:gridCol w="895320"/>
                <a:gridCol w="896040"/>
                <a:gridCol w="895320"/>
                <a:gridCol w="896760"/>
                <a:gridCol w="896040"/>
                <a:gridCol w="894240"/>
                <a:gridCol w="900360"/>
              </a:tblGrid>
              <a:tr h="689400"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N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1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2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3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4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5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6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7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8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9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10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11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35320"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h, </a:t>
                      </a: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см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2.0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2.3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3.0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4.1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4.8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5.0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6.0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6.9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7.8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9.0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9.9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35680"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en-US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v,</a:t>
                      </a: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 м/с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0.46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0.48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0.56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0.68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0.72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0.78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0.72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0.84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0.84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1.02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Times New Roman"/>
                        </a:rPr>
                        <a:t>0.78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</TotalTime>
  <Application>LibreOffice/25.2.7.2$Windows_X86_64 LibreOffice_project/5cbfd1ab6520636bb5f7b99185aa69bd7456825d</Application>
  <AppVersion>15.0000</AppVersion>
  <Words>210</Words>
  <Paragraphs>17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2025-11-24T11:45:24Z</dcterms:created>
  <dc:creator>Данилов Олег</dc:creator>
  <dc:description/>
  <dc:language>ru-RU</dc:language>
  <cp:lastModifiedBy/>
  <dcterms:modified xsi:type="dcterms:W3CDTF">2025-12-09T16:57:08Z</dcterms:modified>
  <cp:revision>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1</vt:i4>
  </property>
  <property fmtid="{D5CDD505-2E9C-101B-9397-08002B2CF9AE}" pid="3" name="PresentationFormat">
    <vt:lpwstr>Widescreen</vt:lpwstr>
  </property>
  <property fmtid="{D5CDD505-2E9C-101B-9397-08002B2CF9AE}" pid="4" name="Slides">
    <vt:i4>18</vt:i4>
  </property>
</Properties>
</file>