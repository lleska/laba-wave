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2" r:id="rId12"/>
    <p:sldId id="273" r:id="rId13"/>
    <p:sldId id="275" r:id="rId14"/>
    <p:sldId id="278" r:id="rId15"/>
    <p:sldId id="279" r:id="rId16"/>
    <p:sldId id="277" r:id="rId17"/>
  </p:sldIdLst>
  <p:sldSz cx="12192000" cy="6858000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5F344ED-F199-4188-A223-537A1B8ADD3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560" cy="1599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480" cy="4872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560" cy="381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5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</a:p>
        </p:txBody>
      </p:sp>
      <p:sp>
        <p:nvSpPr>
          <p:cNvPr id="8" name="PlaceHolder 6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9829854-9EF6-4D07-A287-7276D4A7BFF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560" cy="1599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480" cy="4872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560" cy="381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</a:p>
        </p:txBody>
      </p:sp>
      <p:sp>
        <p:nvSpPr>
          <p:cNvPr id="14" name="PlaceHolder 6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A909267-FD0A-48F3-B8DA-C9E4A25DB00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ru-RU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</a:p>
        </p:txBody>
      </p:sp>
      <p:sp>
        <p:nvSpPr>
          <p:cNvPr id="18" name="PlaceHolder 4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80914DC-9D31-42CC-8A2F-A6E6545CE60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</a:p>
        </p:txBody>
      </p:sp>
      <p:sp>
        <p:nvSpPr>
          <p:cNvPr id="24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AC359E0-9EB2-4C03-9334-2E9D180570A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360" cy="581112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520" cy="581112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</a:p>
        </p:txBody>
      </p:sp>
      <p:sp>
        <p:nvSpPr>
          <p:cNvPr id="29" name="PlaceHolder 5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820D62A-6369-43D9-A0A4-2714D8F1E3C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</a:p>
        </p:txBody>
      </p:sp>
      <p:sp>
        <p:nvSpPr>
          <p:cNvPr id="34" name="PlaceHolder 5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1BB3D74-8D11-4D28-BCCE-C1A602EC653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Hea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4880" cy="2851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ru-RU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4880" cy="1499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</a:p>
        </p:txBody>
      </p:sp>
      <p:sp>
        <p:nvSpPr>
          <p:cNvPr id="39" name="PlaceHolder 5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36B6C7F-68D2-4D68-8C42-A65C614FBD4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076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076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</a:p>
        </p:txBody>
      </p:sp>
      <p:sp>
        <p:nvSpPr>
          <p:cNvPr id="45" name="PlaceHolder 6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FD64D65-7464-40E4-A549-7EEDFE2BDD2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000" cy="82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000" cy="3683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560" cy="82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560" cy="3683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6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7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</a:p>
        </p:txBody>
      </p:sp>
      <p:sp>
        <p:nvSpPr>
          <p:cNvPr id="53" name="PlaceHolder 8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E1C7BA9-C4F0-489D-A5EE-CFFBACD4E0B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</a:p>
        </p:txBody>
      </p:sp>
      <p:sp>
        <p:nvSpPr>
          <p:cNvPr id="57" name="PlaceHolder 4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C184E01-73B4-47D4-A2CC-0651577BAB4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90000"/>
          </a:bodyPr>
          <a:lstStyle/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ОПРЕДЕЛЕНИЕ СКОРОСТИ РАСПРОСТРАНЕНИЯ ВОЛНЫ НА ПОВЕРХНОСТИ ВОДЫ</a:t>
            </a:r>
            <a:endParaRPr lang="ru-RU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9301320" y="5663520"/>
            <a:ext cx="289008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Лысенко Ярослав, Калашников Пётр, Ванин Клим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Цель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4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Исследование зависимости скорости распространения возмущений в воде от глубины канала.</a:t>
            </a:r>
            <a:endParaRPr lang="ru-RU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endParaRPr lang="ru-RU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ru-RU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307080" y="1836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Задачи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307080" y="1071720"/>
            <a:ext cx="11883960" cy="519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2500" lnSpcReduction="9999"/>
          </a:bodyPr>
          <a:lstStyle/>
          <a:p>
            <a:pPr marL="457200" indent="-4572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Calibri Light"/>
              <a:buAutoNum type="arabicPeriod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Собрать и протестировать схему датчика открытия дверцы.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72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Calibri Light"/>
              <a:buAutoNum type="arabicPeriod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Написать и протестировать скрипт для калибровки.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72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Calibri Light"/>
              <a:buAutoNum type="arabicPeriod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Написать и протестировать скрипт для проведения измерения.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72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Calibri Light"/>
              <a:buAutoNum type="arabicPeriod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Провести серию измерений для калибровки.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72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Calibri Light"/>
              <a:buAutoNum type="arabicPeriod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Провести серию измерений скорости волны для разных уровней воды.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72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Calibri Light"/>
              <a:buAutoNum type="arabicPeriod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Получить и визуализировать на графике калибровочную зависимость уровня воды в кювете от показаний АЦП.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72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Calibri Light"/>
              <a:buAutoNum type="arabicPeriod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Построить графики зависимостей уровня воды в кювете от времени для каждого из трех экспериментов и определить по графикам скорости распространения волны.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72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Calibri Light"/>
              <a:buAutoNum type="arabicPeriod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Построить график теоретической зависимости скорости волны от уровня воды и нанести на него полученные в эксперименте скорости.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extBox 4"/>
          <p:cNvSpPr/>
          <p:nvPr/>
        </p:nvSpPr>
        <p:spPr>
          <a:xfrm>
            <a:off x="186840" y="1080000"/>
            <a:ext cx="11512800" cy="5576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Скорость распространения малых возмущений </a:t>
            </a:r>
            <a:r>
              <a:rPr lang="en-US" sz="3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Times New Roman"/>
              </a:rPr>
              <a:t>— скорость распространения точки с постоянным физическим параметром 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3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Times New Roman"/>
              </a:rPr>
              <a:t>(в данной задачи – глубины жидкости).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30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Times New Roman"/>
              </a:rPr>
              <a:t>Для теоретических расчётов</a:t>
            </a:r>
            <a:r>
              <a:rPr lang="en-US" sz="3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Times New Roman"/>
              </a:rPr>
              <a:t> будем использовать следующие приближения: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Times New Roman"/>
              </a:rPr>
              <a:t>Жидкость несжимаемая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Times New Roman"/>
              </a:rPr>
              <a:t>Глубина жидкости в каждом сечении канала много меньше длины канала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Times New Roman"/>
              </a:rPr>
              <a:t>Вертикальная скорость жидкости много меньше горизонтальной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Times New Roman"/>
              </a:rPr>
              <a:t>Изменение параметров течения жидкости (глубины и скорости) вдоль канала заметно меняются только на расстояниях, много больших глубины жидкости.   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itle 2"/>
          <p:cNvSpPr/>
          <p:nvPr/>
        </p:nvSpPr>
        <p:spPr>
          <a:xfrm>
            <a:off x="307440" y="18720"/>
            <a:ext cx="10514880" cy="1324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90000"/>
              </a:lnSpc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Теория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65"/>
          <p:cNvPicPr/>
          <p:nvPr/>
        </p:nvPicPr>
        <p:blipFill>
          <a:blip r:embed="rId2"/>
          <a:stretch/>
        </p:blipFill>
        <p:spPr>
          <a:xfrm>
            <a:off x="121680" y="1800000"/>
            <a:ext cx="11937960" cy="32396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8" name="Picture 67"/>
          <p:cNvPicPr/>
          <p:nvPr/>
        </p:nvPicPr>
        <p:blipFill>
          <a:blip r:embed="rId2"/>
          <a:stretch/>
        </p:blipFill>
        <p:spPr>
          <a:xfrm>
            <a:off x="1189080" y="180000"/>
            <a:ext cx="8880840" cy="65282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0" name="Picture 69"/>
          <p:cNvPicPr/>
          <p:nvPr/>
        </p:nvPicPr>
        <p:blipFill>
          <a:blip r:embed="rId2"/>
          <a:stretch/>
        </p:blipFill>
        <p:spPr>
          <a:xfrm>
            <a:off x="1154520" y="180000"/>
            <a:ext cx="9105120" cy="64796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838080" y="364680"/>
            <a:ext cx="10514880" cy="1325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2" name="Picture 71"/>
          <p:cNvPicPr/>
          <p:nvPr/>
        </p:nvPicPr>
        <p:blipFill>
          <a:blip r:embed="rId2"/>
          <a:stretch/>
        </p:blipFill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3" name="Picture 72"/>
          <p:cNvPicPr/>
          <p:nvPr/>
        </p:nvPicPr>
        <p:blipFill>
          <a:blip r:embed="rId3"/>
          <a:stretch/>
        </p:blipFill>
        <p:spPr>
          <a:xfrm>
            <a:off x="48240" y="360000"/>
            <a:ext cx="12011400" cy="59839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5" name="Picture 74"/>
          <p:cNvPicPr/>
          <p:nvPr/>
        </p:nvPicPr>
        <p:blipFill>
          <a:blip r:embed="rId2"/>
          <a:stretch/>
        </p:blipFill>
        <p:spPr>
          <a:xfrm>
            <a:off x="360" y="315720"/>
            <a:ext cx="12191400" cy="59839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838080" y="364680"/>
            <a:ext cx="10514880" cy="1325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7" name="Picture 76"/>
          <p:cNvPicPr/>
          <p:nvPr/>
        </p:nvPicPr>
        <p:blipFill>
          <a:blip r:embed="rId2"/>
          <a:stretch/>
        </p:blipFill>
        <p:spPr>
          <a:xfrm>
            <a:off x="1440360" y="180000"/>
            <a:ext cx="8819640" cy="66146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4" name="Picture 93"/>
          <p:cNvPicPr/>
          <p:nvPr/>
        </p:nvPicPr>
        <p:blipFill>
          <a:blip r:embed="rId2"/>
          <a:stretch/>
        </p:blipFill>
        <p:spPr>
          <a:xfrm>
            <a:off x="48240" y="540000"/>
            <a:ext cx="12143520" cy="59839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6" name="Picture 95"/>
          <p:cNvPicPr/>
          <p:nvPr/>
        </p:nvPicPr>
        <p:blipFill>
          <a:blip r:embed="rId2"/>
          <a:stretch/>
        </p:blipFill>
        <p:spPr>
          <a:xfrm>
            <a:off x="360" y="495720"/>
            <a:ext cx="12191400" cy="59839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838080" y="364680"/>
            <a:ext cx="10514880" cy="1325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1" name="Picture 100"/>
          <p:cNvPicPr/>
          <p:nvPr/>
        </p:nvPicPr>
        <p:blipFill>
          <a:blip r:embed="rId2"/>
          <a:stretch/>
        </p:blipFill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2" name="Picture 101"/>
          <p:cNvPicPr/>
          <p:nvPr/>
        </p:nvPicPr>
        <p:blipFill>
          <a:blip r:embed="rId3"/>
          <a:stretch/>
        </p:blipFill>
        <p:spPr>
          <a:xfrm>
            <a:off x="48240" y="495720"/>
            <a:ext cx="12143520" cy="59839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6C070-1902-CFB8-36B8-B5352B98C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C69AC6-EBE0-8B96-B495-3B00665CAB15}"/>
              </a:ext>
            </a:extLst>
          </p:cNvPr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3A494B-BF2D-4D1F-689A-E298EFFC380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096000" cy="29924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215A6C0-E3E7-F03B-9670-E2651D3C104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2334" y="0"/>
            <a:ext cx="6096000" cy="299243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9667B1D-6BF7-F10F-BC04-4C909879E1B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992439"/>
            <a:ext cx="6174658" cy="30310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4F0D601-3E57-0DB4-EC1B-E40C8A4C574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1373" y="2839768"/>
            <a:ext cx="6189666" cy="3038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1315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80717-D321-5947-9A9A-23963A770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037D98-4797-16EB-9B66-5E8FED215000}"/>
              </a:ext>
            </a:extLst>
          </p:cNvPr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F60C81-C92E-2AFF-1909-B23864657D6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80" y="0"/>
            <a:ext cx="6008891" cy="294967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78C0277-964A-CC3E-A65F-46B6E23AA16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8411" y="0"/>
            <a:ext cx="6008891" cy="294967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E6F930D-02C8-956C-4349-37FD0A9DE15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78296"/>
            <a:ext cx="6008893" cy="294967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640C92A-7190-189A-A4A3-1CA72326D4E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1965" y="2832035"/>
            <a:ext cx="6139075" cy="3013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53520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838080" y="364680"/>
            <a:ext cx="10514880" cy="1325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7" name="Picture 106"/>
          <p:cNvPicPr/>
          <p:nvPr/>
        </p:nvPicPr>
        <p:blipFill>
          <a:blip r:embed="rId2"/>
          <a:stretch/>
        </p:blipFill>
        <p:spPr>
          <a:xfrm>
            <a:off x="360" y="360000"/>
            <a:ext cx="9179280" cy="4505400"/>
          </a:xfrm>
          <a:prstGeom prst="rect">
            <a:avLst/>
          </a:prstGeom>
          <a:noFill/>
          <a:ln w="0">
            <a:noFill/>
          </a:ln>
        </p:spPr>
      </p:pic>
      <p:graphicFrame>
        <p:nvGraphicFramePr>
          <p:cNvPr id="108" name="Table 107"/>
          <p:cNvGraphicFramePr/>
          <p:nvPr/>
        </p:nvGraphicFramePr>
        <p:xfrm>
          <a:off x="117000" y="4899600"/>
          <a:ext cx="10752480" cy="1760400"/>
        </p:xfrm>
        <a:graphic>
          <a:graphicData uri="http://schemas.openxmlformats.org/drawingml/2006/table">
            <a:tbl>
              <a:tblPr/>
              <a:tblGrid>
                <a:gridCol w="894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5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6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6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95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953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960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953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9676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9604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9424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90036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689400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ru-RU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N</a:t>
                      </a:r>
                      <a:endParaRPr lang="ru-RU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ru-RU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1</a:t>
                      </a:r>
                      <a:endParaRPr lang="ru-RU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ru-RU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2</a:t>
                      </a:r>
                      <a:endParaRPr lang="ru-RU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ru-RU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3</a:t>
                      </a:r>
                      <a:endParaRPr lang="ru-RU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ru-RU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4</a:t>
                      </a:r>
                      <a:endParaRPr lang="ru-RU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ru-RU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5</a:t>
                      </a:r>
                      <a:endParaRPr lang="ru-RU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ru-RU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6</a:t>
                      </a:r>
                      <a:endParaRPr lang="ru-RU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ru-RU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7</a:t>
                      </a:r>
                      <a:endParaRPr lang="ru-RU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ru-RU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8</a:t>
                      </a:r>
                      <a:endParaRPr lang="ru-RU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ru-RU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9</a:t>
                      </a:r>
                      <a:endParaRPr lang="ru-RU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ru-RU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10</a:t>
                      </a:r>
                      <a:endParaRPr lang="ru-RU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ru-RU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11</a:t>
                      </a:r>
                      <a:endParaRPr lang="ru-RU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5320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h, </a:t>
                      </a:r>
                      <a:r>
                        <a:rPr lang="ru-RU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см</a:t>
                      </a:r>
                      <a:endParaRPr lang="ru-RU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ru-RU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2.0</a:t>
                      </a:r>
                      <a:endParaRPr lang="ru-RU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ru-RU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2.3</a:t>
                      </a:r>
                      <a:endParaRPr lang="ru-RU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ru-RU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3.0</a:t>
                      </a:r>
                      <a:endParaRPr lang="ru-RU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ru-RU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4.1</a:t>
                      </a:r>
                      <a:endParaRPr lang="ru-RU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ru-RU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4.8</a:t>
                      </a:r>
                      <a:endParaRPr lang="ru-RU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ru-RU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5.0</a:t>
                      </a:r>
                      <a:endParaRPr lang="ru-RU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ru-RU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6.0</a:t>
                      </a:r>
                      <a:endParaRPr lang="ru-RU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ru-RU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6.9</a:t>
                      </a:r>
                      <a:endParaRPr lang="ru-RU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ru-RU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7.8</a:t>
                      </a:r>
                      <a:endParaRPr lang="ru-RU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ru-RU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9.0</a:t>
                      </a:r>
                      <a:endParaRPr lang="ru-RU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ru-RU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9.9</a:t>
                      </a:r>
                      <a:endParaRPr lang="ru-RU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5680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v,</a:t>
                      </a:r>
                      <a:r>
                        <a:rPr lang="ru-RU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 м/с</a:t>
                      </a:r>
                      <a:endParaRPr lang="ru-RU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ru-RU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0.46</a:t>
                      </a:r>
                      <a:endParaRPr lang="ru-RU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ru-RU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0.48</a:t>
                      </a:r>
                      <a:endParaRPr lang="ru-RU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ru-RU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0.56</a:t>
                      </a:r>
                      <a:endParaRPr lang="ru-RU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ru-RU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0.68</a:t>
                      </a:r>
                      <a:endParaRPr lang="ru-RU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ru-RU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0.72</a:t>
                      </a:r>
                      <a:endParaRPr lang="ru-RU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ru-RU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0.78</a:t>
                      </a:r>
                      <a:endParaRPr lang="ru-RU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ru-RU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0.72</a:t>
                      </a:r>
                      <a:endParaRPr lang="ru-RU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ru-RU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0.84</a:t>
                      </a:r>
                      <a:endParaRPr lang="ru-RU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ru-RU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0.84</a:t>
                      </a:r>
                      <a:endParaRPr lang="ru-RU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ru-RU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1.02</a:t>
                      </a:r>
                      <a:endParaRPr lang="ru-RU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ru-RU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0.78</a:t>
                      </a:r>
                      <a:endParaRPr lang="ru-RU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89</TotalTime>
  <Words>233</Words>
  <Application>Microsoft Office PowerPoint</Application>
  <PresentationFormat>Widescreen</PresentationFormat>
  <Paragraphs>57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Calibri</vt:lpstr>
      <vt:lpstr>Calibri Light</vt:lpstr>
      <vt:lpstr>Symbol</vt:lpstr>
      <vt:lpstr>Times New Roman</vt:lpstr>
      <vt:lpstr>Wingdings</vt:lpstr>
      <vt:lpstr>Office Theme</vt:lpstr>
      <vt:lpstr>ОПРЕДЕЛЕНИЕ СКОРОСТИ РАСПРОСТРАНЕНИЯ ВОЛНЫ НА ПОВЕРХНОСТИ ВОДЫ</vt:lpstr>
      <vt:lpstr>Цель</vt:lpstr>
      <vt:lpstr>Задачи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Данилов Олег</dc:creator>
  <dc:description/>
  <cp:lastModifiedBy>Данилов Олег</cp:lastModifiedBy>
  <cp:revision>8</cp:revision>
  <dcterms:created xsi:type="dcterms:W3CDTF">2025-11-24T11:45:24Z</dcterms:created>
  <dcterms:modified xsi:type="dcterms:W3CDTF">2025-12-10T08:40:53Z</dcterms:modified>
  <dc:language>ru-RU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MClips">
    <vt:i4>1</vt:i4>
  </property>
  <property fmtid="{D5CDD505-2E9C-101B-9397-08002B2CF9AE}" pid="3" name="PresentationFormat">
    <vt:lpwstr>Widescreen</vt:lpwstr>
  </property>
  <property fmtid="{D5CDD505-2E9C-101B-9397-08002B2CF9AE}" pid="4" name="Slides">
    <vt:i4>18</vt:i4>
  </property>
</Properties>
</file>